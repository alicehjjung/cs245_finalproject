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Roboto"/>
      <p:regular r:id="rId26"/>
      <p:bold r:id="rId27"/>
      <p:italic r:id="rId28"/>
      <p:boldItalic r:id="rId29"/>
    </p:embeddedFon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slide" Target="slides/slide19.xml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5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4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cf7e0319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acf7e0319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cf7e0319d_1_2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cf7e0319d_1_2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cf00f8953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acf00f8953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cf00f895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acf00f895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cf00f8953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acf00f8953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cf7e0319d_1_3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acf7e0319d_1_3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cf00f8953_0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acf00f8953_0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cf00f8953_0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acf00f8953_0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d033def7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ad033def7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d033def77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ad033def77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cf00f8953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acf00f8953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cf00f8953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acf00f8953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cf31038f8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acf31038f8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cf31038f8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acf31038f8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a3fd4dc42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a3fd4dc42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cf00f8953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acf00f8953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cf00f8953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acf00f8953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acf00f8953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acf00f8953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acf00f895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acf00f895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er">
  <p:cSld name="Title Open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7407534" y="4754880"/>
            <a:ext cx="94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686800" y="4754880"/>
            <a:ext cx="457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515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640080" y="4663376"/>
            <a:ext cx="17262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Helvetica Neue"/>
              <a:buNone/>
              <a:defRPr b="0" i="0" sz="12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8595B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○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640080" y="4480496"/>
            <a:ext cx="1188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Helvetica Neue"/>
              <a:buNone/>
              <a:defRPr b="0" i="0" sz="12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8595B"/>
              </a:buClr>
              <a:buSzPts val="1200"/>
              <a:buChar char="○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■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●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○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3"/>
          <p:cNvSpPr/>
          <p:nvPr/>
        </p:nvSpPr>
        <p:spPr>
          <a:xfrm>
            <a:off x="640080" y="301752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640080" y="182880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8" name="Google Shape;58;p13"/>
          <p:cNvSpPr/>
          <p:nvPr>
            <p:ph idx="3" type="pic"/>
          </p:nvPr>
        </p:nvSpPr>
        <p:spPr>
          <a:xfrm>
            <a:off x="647698" y="476251"/>
            <a:ext cx="5564700" cy="10317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13"/>
          <p:cNvSpPr txBox="1"/>
          <p:nvPr/>
        </p:nvSpPr>
        <p:spPr>
          <a:xfrm>
            <a:off x="6594764" y="304800"/>
            <a:ext cx="1427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640080" y="1892808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8595B"/>
              </a:buClr>
              <a:buSzPts val="3600"/>
              <a:buFont typeface="Arial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/>
        </p:nvSpPr>
        <p:spPr>
          <a:xfrm>
            <a:off x="6594764" y="304800"/>
            <a:ext cx="1427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0">
          <p15:clr>
            <a:srgbClr val="FBAE40"/>
          </p15:clr>
        </p15:guide>
        <p15:guide id="2" orient="horz" pos="540">
          <p15:clr>
            <a:srgbClr val="FBAE40"/>
          </p15:clr>
        </p15:guide>
        <p15:guide id="3" pos="40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686800" y="4754880"/>
            <a:ext cx="457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640079" y="265176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600"/>
              <a:buFont typeface="Helvetica Neue"/>
              <a:buNone/>
              <a:defRPr b="1" i="0" sz="160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14"/>
          <p:cNvSpPr/>
          <p:nvPr/>
        </p:nvSpPr>
        <p:spPr>
          <a:xfrm>
            <a:off x="640080" y="246888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640080" y="1897130"/>
            <a:ext cx="7772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58595B"/>
              </a:buClr>
              <a:buSzPts val="3600"/>
              <a:buFont typeface="Arial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429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pener">
  <p:cSld name="Title Open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idx="10" type="dt"/>
          </p:nvPr>
        </p:nvSpPr>
        <p:spPr>
          <a:xfrm>
            <a:off x="7407534" y="4754880"/>
            <a:ext cx="94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0" y="0"/>
            <a:ext cx="9144000" cy="515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640080" y="4663376"/>
            <a:ext cx="17262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Helvetica Neue"/>
              <a:buNone/>
              <a:defRPr b="0" i="0" sz="12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640080" y="4480496"/>
            <a:ext cx="1188600" cy="16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Helvetica Neue"/>
              <a:buNone/>
              <a:defRPr b="0" i="0" sz="1200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200"/>
              <a:buChar char="•"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6"/>
          <p:cNvSpPr/>
          <p:nvPr/>
        </p:nvSpPr>
        <p:spPr>
          <a:xfrm>
            <a:off x="640080" y="301752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640080" y="182880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16"/>
          <p:cNvSpPr/>
          <p:nvPr>
            <p:ph idx="3" type="pic"/>
          </p:nvPr>
        </p:nvSpPr>
        <p:spPr>
          <a:xfrm>
            <a:off x="647698" y="476251"/>
            <a:ext cx="5564700" cy="10317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6"/>
          <p:cNvSpPr txBox="1"/>
          <p:nvPr/>
        </p:nvSpPr>
        <p:spPr>
          <a:xfrm>
            <a:off x="6594764" y="304800"/>
            <a:ext cx="1427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p16"/>
          <p:cNvSpPr txBox="1"/>
          <p:nvPr>
            <p:ph idx="4" type="body"/>
          </p:nvPr>
        </p:nvSpPr>
        <p:spPr>
          <a:xfrm>
            <a:off x="640080" y="1892808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Font typeface="Arial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6"/>
          <p:cNvSpPr txBox="1"/>
          <p:nvPr/>
        </p:nvSpPr>
        <p:spPr>
          <a:xfrm>
            <a:off x="6594764" y="304800"/>
            <a:ext cx="1427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0">
          <p15:clr>
            <a:srgbClr val="FBAE40"/>
          </p15:clr>
        </p15:guide>
        <p15:guide id="2" orient="horz" pos="540">
          <p15:clr>
            <a:srgbClr val="FBAE40"/>
          </p15:clr>
        </p15:guide>
        <p15:guide id="3" pos="40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able">
  <p:cSld name="Header w/tabl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/>
          <p:nvPr>
            <p:ph idx="2" type="tbl"/>
          </p:nvPr>
        </p:nvSpPr>
        <p:spPr>
          <a:xfrm>
            <a:off x="1097280" y="1188720"/>
            <a:ext cx="6400800" cy="31089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350"/>
              <a:buFont typeface="Helvetica Neue"/>
              <a:buNone/>
              <a:defRPr b="0" i="0" sz="135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7739809" y="1188720"/>
            <a:ext cx="9471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FC28FC"/>
              </a:buClr>
              <a:buSzPts val="800"/>
              <a:buNone/>
              <a:defRPr b="0" sz="800">
                <a:solidFill>
                  <a:srgbClr val="FC28F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F0000"/>
              </a:buClr>
              <a:buSzPts val="1400"/>
              <a:buNone/>
              <a:defRPr>
                <a:solidFill>
                  <a:srgbClr val="FF000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Divider">
  <p:cSld name="Section Divid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640079" y="265176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600"/>
              <a:buFont typeface="Helvetica Neue"/>
              <a:buNone/>
              <a:defRPr b="1" i="0" sz="160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8"/>
          <p:cNvSpPr/>
          <p:nvPr/>
        </p:nvSpPr>
        <p:spPr>
          <a:xfrm>
            <a:off x="640080" y="246888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640080" y="1897130"/>
            <a:ext cx="7772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Font typeface="Arial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  <a:defRPr b="1" sz="36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Thank You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640080" y="1874520"/>
            <a:ext cx="777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6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Q&amp;A</a:t>
            </a:r>
            <a:endParaRPr b="1" i="0" sz="3600">
              <a:solidFill>
                <a:srgbClr val="5859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640080" y="2468880"/>
            <a:ext cx="7772400" cy="36600"/>
          </a:xfrm>
          <a:prstGeom prst="rect">
            <a:avLst/>
          </a:prstGeom>
          <a:solidFill>
            <a:srgbClr val="2C75A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copy">
  <p:cSld name="Header w/cop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1097280" y="1554480"/>
            <a:ext cx="6858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1097280" y="1188720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0"/>
          <p:cNvSpPr txBox="1"/>
          <p:nvPr>
            <p:ph type="title"/>
          </p:nvPr>
        </p:nvSpPr>
        <p:spPr>
          <a:xfrm>
            <a:off x="640077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bullets">
  <p:cSld name="Header w/bullets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1097280" y="1554480"/>
            <a:ext cx="68580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1097280" y="1188720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3" type="body"/>
          </p:nvPr>
        </p:nvSpPr>
        <p:spPr>
          <a:xfrm>
            <a:off x="1097281" y="2286000"/>
            <a:ext cx="68580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3175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columns">
  <p:cSld name="Header w/two columns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1097280" y="1554480"/>
            <a:ext cx="33834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1097280" y="1188720"/>
            <a:ext cx="338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22"/>
          <p:cNvSpPr txBox="1"/>
          <p:nvPr>
            <p:ph idx="3" type="body"/>
          </p:nvPr>
        </p:nvSpPr>
        <p:spPr>
          <a:xfrm>
            <a:off x="5029200" y="1554480"/>
            <a:ext cx="33834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2"/>
          <p:cNvSpPr txBox="1"/>
          <p:nvPr>
            <p:ph idx="4" type="body"/>
          </p:nvPr>
        </p:nvSpPr>
        <p:spPr>
          <a:xfrm>
            <a:off x="5029200" y="1188720"/>
            <a:ext cx="338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  <p15:guide id="2" pos="3096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Left">
  <p:cSld name="Header w/one image on Lef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572000" y="1554480"/>
            <a:ext cx="38406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2" type="body"/>
          </p:nvPr>
        </p:nvSpPr>
        <p:spPr>
          <a:xfrm>
            <a:off x="4571999" y="1188720"/>
            <a:ext cx="384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3"/>
          <p:cNvSpPr/>
          <p:nvPr>
            <p:ph idx="3" type="pic"/>
          </p:nvPr>
        </p:nvSpPr>
        <p:spPr>
          <a:xfrm>
            <a:off x="640080" y="1188720"/>
            <a:ext cx="3931800" cy="32919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25" name="Google Shape;125;p23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one image on Right">
  <p:cSld name="Header w/one image on Righ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640079" y="1554480"/>
            <a:ext cx="38406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2" type="body"/>
          </p:nvPr>
        </p:nvSpPr>
        <p:spPr>
          <a:xfrm>
            <a:off x="640080" y="1188720"/>
            <a:ext cx="3840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575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4"/>
          <p:cNvSpPr/>
          <p:nvPr>
            <p:ph idx="3" type="pic"/>
          </p:nvPr>
        </p:nvSpPr>
        <p:spPr>
          <a:xfrm>
            <a:off x="4480559" y="1188720"/>
            <a:ext cx="3931800" cy="32919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wo images">
  <p:cSld name="Header w/two image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5"/>
          <p:cNvSpPr/>
          <p:nvPr>
            <p:ph idx="2" type="pic"/>
          </p:nvPr>
        </p:nvSpPr>
        <p:spPr>
          <a:xfrm>
            <a:off x="639952" y="1188720"/>
            <a:ext cx="37491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640080" y="3291840"/>
            <a:ext cx="374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5"/>
          <p:cNvSpPr/>
          <p:nvPr>
            <p:ph idx="3" type="pic"/>
          </p:nvPr>
        </p:nvSpPr>
        <p:spPr>
          <a:xfrm>
            <a:off x="4663440" y="1188720"/>
            <a:ext cx="37491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38" name="Google Shape;138;p25"/>
          <p:cNvSpPr txBox="1"/>
          <p:nvPr>
            <p:ph idx="4" type="body"/>
          </p:nvPr>
        </p:nvSpPr>
        <p:spPr>
          <a:xfrm>
            <a:off x="4663440" y="3291840"/>
            <a:ext cx="3749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header w/two captioned images captions">
  <p:cSld name="Small header w/two captioned images caption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/>
          <p:nvPr/>
        </p:nvSpPr>
        <p:spPr>
          <a:xfrm>
            <a:off x="0" y="0"/>
            <a:ext cx="9144000" cy="11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640079" y="36576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Font typeface="Helvetica Neue"/>
              <a:buNone/>
            </a:pPr>
            <a:r>
              <a:rPr b="1" i="0" lang="en" sz="18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Header w/two captioned images</a:t>
            </a:r>
            <a:endParaRPr/>
          </a:p>
        </p:txBody>
      </p:sp>
      <p:sp>
        <p:nvSpPr>
          <p:cNvPr id="143" name="Google Shape;143;p26"/>
          <p:cNvSpPr/>
          <p:nvPr/>
        </p:nvSpPr>
        <p:spPr>
          <a:xfrm>
            <a:off x="640080" y="673649"/>
            <a:ext cx="7772400" cy="366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639950" y="4114800"/>
            <a:ext cx="3749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375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794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794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794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794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5" name="Google Shape;145;p26"/>
          <p:cNvSpPr/>
          <p:nvPr/>
        </p:nvSpPr>
        <p:spPr>
          <a:xfrm>
            <a:off x="0" y="0"/>
            <a:ext cx="9144000" cy="11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640079" y="36576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Font typeface="Helvetica Neue"/>
              <a:buNone/>
            </a:pPr>
            <a:r>
              <a:rPr b="1" i="0" lang="en" sz="180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Small Header w/two captioned images</a:t>
            </a:r>
            <a:endParaRPr/>
          </a:p>
        </p:txBody>
      </p:sp>
      <p:sp>
        <p:nvSpPr>
          <p:cNvPr id="147" name="Google Shape;147;p26"/>
          <p:cNvSpPr/>
          <p:nvPr/>
        </p:nvSpPr>
        <p:spPr>
          <a:xfrm>
            <a:off x="640080" y="673649"/>
            <a:ext cx="7772400" cy="366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26"/>
          <p:cNvSpPr/>
          <p:nvPr>
            <p:ph idx="2" type="pic"/>
          </p:nvPr>
        </p:nvSpPr>
        <p:spPr>
          <a:xfrm>
            <a:off x="639951" y="1038977"/>
            <a:ext cx="3749100" cy="301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49" name="Google Shape;149;p26"/>
          <p:cNvSpPr txBox="1"/>
          <p:nvPr>
            <p:ph idx="3" type="body"/>
          </p:nvPr>
        </p:nvSpPr>
        <p:spPr>
          <a:xfrm>
            <a:off x="4663439" y="4114800"/>
            <a:ext cx="3749100" cy="1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375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800"/>
              <a:buNone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794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794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794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794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800"/>
              <a:buChar char="•"/>
              <a:defRPr sz="8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6"/>
          <p:cNvSpPr/>
          <p:nvPr>
            <p:ph idx="4" type="pic"/>
          </p:nvPr>
        </p:nvSpPr>
        <p:spPr>
          <a:xfrm>
            <a:off x="4663440" y="1038977"/>
            <a:ext cx="3749100" cy="301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three images">
  <p:cSld name="Header w/three images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/>
          <p:nvPr>
            <p:ph idx="2" type="pic"/>
          </p:nvPr>
        </p:nvSpPr>
        <p:spPr>
          <a:xfrm>
            <a:off x="639952" y="1188720"/>
            <a:ext cx="24690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54" name="Google Shape;154;p27"/>
          <p:cNvSpPr txBox="1"/>
          <p:nvPr>
            <p:ph idx="1" type="body"/>
          </p:nvPr>
        </p:nvSpPr>
        <p:spPr>
          <a:xfrm>
            <a:off x="5943600" y="3291840"/>
            <a:ext cx="246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7"/>
          <p:cNvSpPr/>
          <p:nvPr>
            <p:ph idx="3" type="pic"/>
          </p:nvPr>
        </p:nvSpPr>
        <p:spPr>
          <a:xfrm>
            <a:off x="5943600" y="1188720"/>
            <a:ext cx="24690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56" name="Google Shape;156;p27"/>
          <p:cNvSpPr txBox="1"/>
          <p:nvPr>
            <p:ph idx="4" type="body"/>
          </p:nvPr>
        </p:nvSpPr>
        <p:spPr>
          <a:xfrm>
            <a:off x="3291840" y="3291840"/>
            <a:ext cx="246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7" name="Google Shape;157;p27"/>
          <p:cNvSpPr/>
          <p:nvPr>
            <p:ph idx="5" type="pic"/>
          </p:nvPr>
        </p:nvSpPr>
        <p:spPr>
          <a:xfrm>
            <a:off x="3291776" y="1188720"/>
            <a:ext cx="2469000" cy="205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58" name="Google Shape;158;p27"/>
          <p:cNvSpPr txBox="1"/>
          <p:nvPr>
            <p:ph idx="6" type="body"/>
          </p:nvPr>
        </p:nvSpPr>
        <p:spPr>
          <a:xfrm>
            <a:off x="640080" y="3291840"/>
            <a:ext cx="24690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/wide image">
  <p:cSld name="Header/wide image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640080" y="3657600"/>
            <a:ext cx="7772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82875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28"/>
          <p:cNvSpPr/>
          <p:nvPr>
            <p:ph idx="2" type="pic"/>
          </p:nvPr>
        </p:nvSpPr>
        <p:spPr>
          <a:xfrm>
            <a:off x="640080" y="1188720"/>
            <a:ext cx="7772400" cy="24231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64" name="Google Shape;164;p28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Header w/video">
  <p:cSld name="1_Header w/video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9"/>
          <p:cNvSpPr/>
          <p:nvPr>
            <p:ph idx="2" type="pic"/>
          </p:nvPr>
        </p:nvSpPr>
        <p:spPr>
          <a:xfrm>
            <a:off x="1828800" y="1188720"/>
            <a:ext cx="5486400" cy="3017400"/>
          </a:xfrm>
          <a:prstGeom prst="rect">
            <a:avLst/>
          </a:prstGeom>
          <a:solidFill>
            <a:srgbClr val="DBE7F5"/>
          </a:solidFill>
          <a:ln>
            <a:noFill/>
          </a:ln>
        </p:spPr>
      </p:sp>
      <p:sp>
        <p:nvSpPr>
          <p:cNvPr id="168" name="Google Shape;168;p29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w/video and copy">
  <p:cSld name="Header w/video and cop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5669280" y="1554480"/>
            <a:ext cx="27432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None/>
              <a:defRPr b="0" i="0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2" name="Google Shape;172;p30"/>
          <p:cNvSpPr txBox="1"/>
          <p:nvPr>
            <p:ph idx="2" type="body"/>
          </p:nvPr>
        </p:nvSpPr>
        <p:spPr>
          <a:xfrm>
            <a:off x="5669280" y="1188720"/>
            <a:ext cx="2743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6575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  <a:defRPr b="1" i="0" cap="non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3" name="Google Shape;173;p30"/>
          <p:cNvSpPr/>
          <p:nvPr>
            <p:ph idx="3" type="media"/>
          </p:nvPr>
        </p:nvSpPr>
        <p:spPr>
          <a:xfrm>
            <a:off x="640080" y="1188720"/>
            <a:ext cx="5029200" cy="2834700"/>
          </a:xfrm>
          <a:prstGeom prst="rect">
            <a:avLst/>
          </a:prstGeom>
          <a:solidFill>
            <a:srgbClr val="DBE7F5"/>
          </a:solidFill>
          <a:ln>
            <a:noFill/>
          </a:ln>
        </p:spPr>
        <p:txBody>
          <a:bodyPr anchorCtr="1" anchor="t" bIns="0" lIns="0" spcFirstLastPara="1" rIns="0" wrap="square" tIns="0">
            <a:noAutofit/>
          </a:bodyPr>
          <a:lstStyle>
            <a:lvl1pPr lvl="0" marR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98989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Char char="•"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Char char="•"/>
              <a:defRPr b="0" i="0" sz="41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/white background">
  <p:cSld name="Statement w/white background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/>
          <p:nvPr/>
        </p:nvSpPr>
        <p:spPr>
          <a:xfrm>
            <a:off x="0" y="1"/>
            <a:ext cx="9144000" cy="459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1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1371600" y="1371600"/>
            <a:ext cx="6400800" cy="16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1pPr>
            <a:lvl2pPr indent="-228600" lvl="1" marL="9144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2pPr>
            <a:lvl3pPr indent="-228600" lvl="2" marL="13716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3pPr>
            <a:lvl4pPr indent="-228600" lvl="3" marL="18288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4pPr>
            <a:lvl5pPr indent="-228600" lvl="4" marL="2286000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2774AE"/>
              </a:buClr>
              <a:buSzPts val="4000"/>
              <a:buNone/>
              <a:defRPr sz="4000">
                <a:solidFill>
                  <a:srgbClr val="2774AE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hank You">
  <p:cSld name="1_Thank You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0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algn="l">
              <a:lnSpc>
                <a:spcPct val="100000"/>
              </a:lnSpc>
              <a:spcBef>
                <a:spcPts val="0"/>
              </a:spcBef>
              <a:buNone/>
              <a:defRPr/>
            </a:lvl1pPr>
            <a:lvl2pPr indent="0" lvl="1" marL="0" algn="l">
              <a:lnSpc>
                <a:spcPct val="100000"/>
              </a:lnSpc>
              <a:spcBef>
                <a:spcPts val="0"/>
              </a:spcBef>
              <a:buNone/>
              <a:defRPr/>
            </a:lvl2pPr>
            <a:lvl3pPr indent="0" lvl="2" marL="0" algn="l">
              <a:lnSpc>
                <a:spcPct val="100000"/>
              </a:lnSpc>
              <a:spcBef>
                <a:spcPts val="0"/>
              </a:spcBef>
              <a:buNone/>
              <a:defRPr/>
            </a:lvl3pPr>
            <a:lvl4pPr indent="0" lvl="3" marL="0" algn="l">
              <a:lnSpc>
                <a:spcPct val="100000"/>
              </a:lnSpc>
              <a:spcBef>
                <a:spcPts val="0"/>
              </a:spcBef>
              <a:buNone/>
              <a:defRPr/>
            </a:lvl4pPr>
            <a:lvl5pPr indent="0" lvl="4" marL="0" algn="l">
              <a:lnSpc>
                <a:spcPct val="100000"/>
              </a:lnSpc>
              <a:spcBef>
                <a:spcPts val="0"/>
              </a:spcBef>
              <a:buNone/>
              <a:defRPr/>
            </a:lvl5pPr>
            <a:lvl6pPr indent="0" lvl="5" marL="0" algn="l">
              <a:lnSpc>
                <a:spcPct val="100000"/>
              </a:lnSpc>
              <a:spcBef>
                <a:spcPts val="0"/>
              </a:spcBef>
              <a:buNone/>
              <a:defRPr/>
            </a:lvl6pPr>
            <a:lvl7pPr indent="0" lvl="6" marL="0" algn="l">
              <a:lnSpc>
                <a:spcPct val="100000"/>
              </a:lnSpc>
              <a:spcBef>
                <a:spcPts val="0"/>
              </a:spcBef>
              <a:buNone/>
              <a:defRPr/>
            </a:lvl7pPr>
            <a:lvl8pPr indent="0" lvl="7" marL="0" algn="l">
              <a:lnSpc>
                <a:spcPct val="100000"/>
              </a:lnSpc>
              <a:spcBef>
                <a:spcPts val="0"/>
              </a:spcBef>
              <a:buNone/>
              <a:defRPr/>
            </a:lvl8pPr>
            <a:lvl9pPr indent="0" lvl="8" marL="0" algn="l">
              <a:lnSpc>
                <a:spcPct val="100000"/>
              </a:lnSpc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81646" y="2282017"/>
            <a:ext cx="4580708" cy="579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29.xml"/><Relationship Id="rId1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7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42900" y="4616606"/>
            <a:ext cx="1372688" cy="26596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640080" y="821642"/>
            <a:ext cx="7772400" cy="366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1" name="Google Shape;71;p15"/>
          <p:cNvSpPr txBox="1"/>
          <p:nvPr>
            <p:ph type="title"/>
          </p:nvPr>
        </p:nvSpPr>
        <p:spPr>
          <a:xfrm>
            <a:off x="640079" y="367401"/>
            <a:ext cx="7772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  <a:defRPr b="1" i="0" sz="28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buNone/>
              <a:defRPr b="0" i="0" sz="800" u="none" cap="none" strike="noStrike">
                <a:solidFill>
                  <a:srgbClr val="89898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1097280" y="1188720"/>
            <a:ext cx="7315200" cy="11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 marR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859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None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571500" lvl="6" marL="32004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b="0" i="0" sz="5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34950" lvl="7" marL="36576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/>
              <a:buChar char="•"/>
              <a:defRPr b="0" i="0" sz="1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492125" lvl="8" marL="4114800" marR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150"/>
              <a:buFont typeface="Arial"/>
              <a:buChar char="•"/>
              <a:defRPr b="0" i="0" sz="415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640080" y="4663376"/>
            <a:ext cx="17262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898989"/>
              </a:buClr>
              <a:buSzPts val="1200"/>
              <a:buFont typeface="Helvetica Neue"/>
              <a:buNone/>
            </a:pPr>
            <a:r>
              <a:rPr lang="en"/>
              <a:t>December 2, 2025</a:t>
            </a:r>
            <a:endParaRPr/>
          </a:p>
        </p:txBody>
      </p:sp>
      <p:sp>
        <p:nvSpPr>
          <p:cNvPr id="188" name="Google Shape;188;p33"/>
          <p:cNvSpPr txBox="1"/>
          <p:nvPr>
            <p:ph idx="2" type="body"/>
          </p:nvPr>
        </p:nvSpPr>
        <p:spPr>
          <a:xfrm>
            <a:off x="640080" y="4480496"/>
            <a:ext cx="11886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25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898989"/>
              </a:buClr>
              <a:buSzPts val="1200"/>
              <a:buFont typeface="Helvetica Neue"/>
              <a:buNone/>
            </a:pPr>
            <a:r>
              <a:t/>
            </a:r>
            <a:endParaRPr/>
          </a:p>
        </p:txBody>
      </p:sp>
      <p:pic>
        <p:nvPicPr>
          <p:cNvPr id="189" name="Google Shape;189;p33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" y="481154"/>
            <a:ext cx="1992373" cy="3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3"/>
          <p:cNvSpPr txBox="1"/>
          <p:nvPr>
            <p:ph idx="4" type="body"/>
          </p:nvPr>
        </p:nvSpPr>
        <p:spPr>
          <a:xfrm>
            <a:off x="685805" y="2053458"/>
            <a:ext cx="7772400" cy="8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lang="en" sz="2600"/>
              <a:t>Robust Simulation Agents for Review Platforms</a:t>
            </a:r>
            <a:endParaRPr sz="2600"/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1200"/>
              </a:spcAft>
              <a:buClr>
                <a:srgbClr val="58595B"/>
              </a:buClr>
              <a:buSzPts val="3600"/>
              <a:buNone/>
            </a:pPr>
            <a:r>
              <a:rPr lang="en" sz="2600"/>
              <a:t>A Decoupled Neuro-Symbolic Approach</a:t>
            </a:r>
            <a:endParaRPr sz="2600"/>
          </a:p>
        </p:txBody>
      </p:sp>
      <p:sp>
        <p:nvSpPr>
          <p:cNvPr id="191" name="Google Shape;191;p33"/>
          <p:cNvSpPr txBox="1"/>
          <p:nvPr>
            <p:ph idx="4" type="body"/>
          </p:nvPr>
        </p:nvSpPr>
        <p:spPr>
          <a:xfrm>
            <a:off x="685805" y="3154633"/>
            <a:ext cx="77724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b="0" lang="en" sz="1500"/>
              <a:t>Jack He</a:t>
            </a:r>
            <a:endParaRPr b="0" sz="1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b="0" lang="en" sz="1500"/>
              <a:t>Zihan Jiang</a:t>
            </a:r>
            <a:endParaRPr b="0" sz="1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3600"/>
              <a:buNone/>
            </a:pPr>
            <a:r>
              <a:rPr b="0" lang="en" sz="1500"/>
              <a:t>Alice Jung</a:t>
            </a:r>
            <a:endParaRPr b="0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3109076" y="1554416"/>
            <a:ext cx="48462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Focus on understanding user preferences and simulating online reviews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Design agents to simulate user reviews and star rating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Simulate user behavior in specific scenarios by leveraging their </a:t>
            </a: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historical</a:t>
            </a:r>
            <a:r>
              <a:rPr lang="en" sz="18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actions and accessible environmental data</a:t>
            </a:r>
            <a:endParaRPr sz="18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34"/>
          <p:cNvSpPr txBox="1"/>
          <p:nvPr>
            <p:ph idx="2" type="body"/>
          </p:nvPr>
        </p:nvSpPr>
        <p:spPr>
          <a:xfrm>
            <a:off x="1097280" y="1087120"/>
            <a:ext cx="68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</a:pPr>
            <a:r>
              <a:rPr lang="en" sz="2000"/>
              <a:t>Web Society Simulator - User Behavior Simulation Track</a:t>
            </a:r>
            <a:endParaRPr sz="2000"/>
          </a:p>
        </p:txBody>
      </p:sp>
      <p:sp>
        <p:nvSpPr>
          <p:cNvPr id="198" name="Google Shape;198;p34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4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Introduction - Overview</a:t>
            </a:r>
            <a:endParaRPr/>
          </a:p>
        </p:txBody>
      </p:sp>
      <p:pic>
        <p:nvPicPr>
          <p:cNvPr id="200" name="Google Shape;20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250" y="1554425"/>
            <a:ext cx="2164100" cy="2141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idx="1" type="body"/>
          </p:nvPr>
        </p:nvSpPr>
        <p:spPr>
          <a:xfrm>
            <a:off x="640075" y="1178900"/>
            <a:ext cx="77724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</a:rPr>
              <a:t>Current LLM-based agents often struggle to maintain consistency between a user’s historical rating distribution and their generated text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</a:rPr>
              <a:t>Models frequently prioritize linguistic fluency over statistical accuracy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</a:rPr>
              <a:t>It results in plausible-sounding reviews that fail to reflect the user’s actual ground-truth biases.</a:t>
            </a:r>
            <a:endParaRPr sz="1800">
              <a:solidFill>
                <a:srgbClr val="333333"/>
              </a:solidFill>
            </a:endParaRPr>
          </a:p>
        </p:txBody>
      </p:sp>
      <p:sp>
        <p:nvSpPr>
          <p:cNvPr id="206" name="Google Shape;206;p35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35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Introduction - Current Problem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idx="1" type="body"/>
          </p:nvPr>
        </p:nvSpPr>
        <p:spPr>
          <a:xfrm>
            <a:off x="640075" y="1178900"/>
            <a:ext cx="7772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rating scale is narrow(1-5), so ratings for the same user and item typically do not vary much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Instead of generating ratings from scratch by LLMs, we use </a:t>
            </a:r>
            <a:r>
              <a:rPr b="1" lang="en" sz="1800">
                <a:solidFill>
                  <a:schemeClr val="dk1"/>
                </a:solidFill>
              </a:rPr>
              <a:t>historical ratings </a:t>
            </a:r>
            <a:r>
              <a:rPr lang="en" sz="1800">
                <a:solidFill>
                  <a:schemeClr val="dk1"/>
                </a:solidFill>
              </a:rPr>
              <a:t>as a more reliable prior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LLMs focuses on generating a review consistent with the given rating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This approach helps reduce hallucinations by applying deterministic constraints on rating generation</a:t>
            </a:r>
            <a:endParaRPr sz="1800"/>
          </a:p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4" name="Google Shape;214;p36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Introduction - Motivation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640074" y="2808600"/>
            <a:ext cx="7726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Evaluate whether historical ratings provide a stronger, more stable ratings than LLM-generated ratings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Analyze differences in consistency and stability between the two approaches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Determine whether historical data improves the quality of generated reviews</a:t>
            </a:r>
            <a:endParaRPr sz="1800"/>
          </a:p>
        </p:txBody>
      </p:sp>
      <p:sp>
        <p:nvSpPr>
          <p:cNvPr id="220" name="Google Shape;220;p37"/>
          <p:cNvSpPr txBox="1"/>
          <p:nvPr>
            <p:ph idx="2" type="body"/>
          </p:nvPr>
        </p:nvSpPr>
        <p:spPr>
          <a:xfrm>
            <a:off x="640080" y="1047183"/>
            <a:ext cx="68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</a:pPr>
            <a:r>
              <a:rPr lang="en" sz="2000"/>
              <a:t>Idea</a:t>
            </a:r>
            <a:endParaRPr sz="2000"/>
          </a:p>
        </p:txBody>
      </p:sp>
      <p:sp>
        <p:nvSpPr>
          <p:cNvPr id="221" name="Google Shape;221;p3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37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Introduction - Idea &amp; Goal</a:t>
            </a:r>
            <a:endParaRPr/>
          </a:p>
        </p:txBody>
      </p:sp>
      <p:sp>
        <p:nvSpPr>
          <p:cNvPr id="223" name="Google Shape;223;p37"/>
          <p:cNvSpPr txBox="1"/>
          <p:nvPr>
            <p:ph idx="2" type="body"/>
          </p:nvPr>
        </p:nvSpPr>
        <p:spPr>
          <a:xfrm>
            <a:off x="640080" y="2417858"/>
            <a:ext cx="6858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400"/>
              <a:buFont typeface="Helvetica Neue"/>
              <a:buNone/>
            </a:pPr>
            <a:r>
              <a:rPr lang="en" sz="2000"/>
              <a:t>Goal</a:t>
            </a:r>
            <a:endParaRPr sz="2000"/>
          </a:p>
        </p:txBody>
      </p:sp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640075" y="1422751"/>
            <a:ext cx="6858000" cy="8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Compare two approaches: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" sz="1800">
                <a:solidFill>
                  <a:schemeClr val="dk1"/>
                </a:solidFill>
              </a:rPr>
              <a:t>LLM-generated rating + review (Baseline)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</a:pPr>
            <a:r>
              <a:rPr lang="en" sz="1800">
                <a:solidFill>
                  <a:schemeClr val="dk1"/>
                </a:solidFill>
              </a:rPr>
              <a:t>Historical rating + LLM-generated review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idx="12" type="sldNum"/>
          </p:nvPr>
        </p:nvSpPr>
        <p:spPr>
          <a:xfrm>
            <a:off x="8686800" y="4754880"/>
            <a:ext cx="457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16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31" name="Google Shape;231;p38"/>
          <p:cNvSpPr txBox="1"/>
          <p:nvPr>
            <p:ph idx="2" type="body"/>
          </p:nvPr>
        </p:nvSpPr>
        <p:spPr>
          <a:xfrm>
            <a:off x="640080" y="1897130"/>
            <a:ext cx="7772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3600"/>
              <a:buNone/>
            </a:pPr>
            <a:r>
              <a:rPr lang="en"/>
              <a:t>2. Method/System Design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39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Hybrid Neuro-Symbolic SImulation</a:t>
            </a:r>
            <a:endParaRPr/>
          </a:p>
        </p:txBody>
      </p:sp>
      <p:pic>
        <p:nvPicPr>
          <p:cNvPr id="238" name="Google Shape;238;p39" title="pipe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1025" y="1228025"/>
            <a:ext cx="7110477" cy="3086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4" name="Google Shape;244;p40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Module1: Deterministic Rating Prediction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640075" y="1178900"/>
            <a:ext cx="7772400" cy="25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800"/>
              <a:t>Purpose</a:t>
            </a:r>
            <a:endParaRPr b="1" sz="1800"/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 prevent rating hallucinations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Predict star rating based on historical data</a:t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800"/>
              <a:t>Method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Char char="●"/>
            </a:pPr>
            <a:r>
              <a:rPr lang="en" sz="18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rPr>
              <a:t>A weighted averaging algorithm</a:t>
            </a:r>
            <a:endParaRPr sz="1800">
              <a:solidFill>
                <a:srgbClr val="5859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Char char="●"/>
            </a:pPr>
            <a:r>
              <a:rPr lang="en" sz="18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rPr>
              <a:t>Prioritize the item’s reputation</a:t>
            </a:r>
            <a:endParaRPr sz="1800">
              <a:solidFill>
                <a:srgbClr val="58595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Char char="●"/>
            </a:pPr>
            <a:r>
              <a:rPr lang="en" sz="1800">
                <a:solidFill>
                  <a:srgbClr val="58595B"/>
                </a:solidFill>
                <a:latin typeface="Arial"/>
                <a:ea typeface="Arial"/>
                <a:cs typeface="Arial"/>
                <a:sym typeface="Arial"/>
              </a:rPr>
              <a:t>Ensures that agent never output a 1-star rating for a high acclaimed business simply due to stochastic noise</a:t>
            </a:r>
            <a:endParaRPr sz="1800">
              <a:solidFill>
                <a:srgbClr val="58595B"/>
              </a:solidFill>
            </a:endParaRPr>
          </a:p>
        </p:txBody>
      </p:sp>
      <p:pic>
        <p:nvPicPr>
          <p:cNvPr id="246" name="Google Shape;246;p40" title="스크린샷 2025-12-02 오후 9.14.51.png"/>
          <p:cNvPicPr preferRelativeResize="0"/>
          <p:nvPr/>
        </p:nvPicPr>
        <p:blipFill rotWithShape="1">
          <a:blip r:embed="rId3">
            <a:alphaModFix/>
          </a:blip>
          <a:srcRect b="16079" l="0" r="0" t="0"/>
          <a:stretch/>
        </p:blipFill>
        <p:spPr>
          <a:xfrm>
            <a:off x="640085" y="3845750"/>
            <a:ext cx="3661465" cy="38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0" title="pipeline.png"/>
          <p:cNvPicPr preferRelativeResize="0"/>
          <p:nvPr/>
        </p:nvPicPr>
        <p:blipFill rotWithShape="1">
          <a:blip r:embed="rId4">
            <a:alphaModFix/>
          </a:blip>
          <a:srcRect b="50602" l="24447" r="37107" t="9334"/>
          <a:stretch/>
        </p:blipFill>
        <p:spPr>
          <a:xfrm>
            <a:off x="5542400" y="1330975"/>
            <a:ext cx="3144402" cy="1720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40" title="269 남은 슬라이드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2525" y="4245817"/>
            <a:ext cx="3196099" cy="303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0" title="269 남은 슬라이드 (4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2775" y="3888000"/>
            <a:ext cx="2937451" cy="30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0" title="269 남은 슬라이드 (3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12525" y="4645518"/>
            <a:ext cx="1039851" cy="2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1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1"/>
          <p:cNvSpPr txBox="1"/>
          <p:nvPr>
            <p:ph type="title"/>
          </p:nvPr>
        </p:nvSpPr>
        <p:spPr>
          <a:xfrm>
            <a:off x="640075" y="367400"/>
            <a:ext cx="82119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Module2: </a:t>
            </a:r>
            <a:r>
              <a:rPr lang="en"/>
              <a:t>Target-Conditioned Context Retrieval</a:t>
            </a:r>
            <a:endParaRPr/>
          </a:p>
        </p:txBody>
      </p:sp>
      <p:sp>
        <p:nvSpPr>
          <p:cNvPr id="257" name="Google Shape;257;p41"/>
          <p:cNvSpPr txBox="1"/>
          <p:nvPr>
            <p:ph idx="1" type="body"/>
          </p:nvPr>
        </p:nvSpPr>
        <p:spPr>
          <a:xfrm>
            <a:off x="640075" y="1178900"/>
            <a:ext cx="77724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800"/>
              <a:t>Purpose</a:t>
            </a:r>
            <a:endParaRPr b="1" sz="1800"/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 prevent “Hallucination of Sentiment” problem</a:t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800"/>
              <a:t>Method</a:t>
            </a:r>
            <a:endParaRPr b="1" sz="1800"/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Retrieve only past reviews where the user gave the same star rating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a few-shot prompt that corresponds to the target output</a:t>
            </a:r>
            <a:endParaRPr sz="1800"/>
          </a:p>
        </p:txBody>
      </p:sp>
      <p:pic>
        <p:nvPicPr>
          <p:cNvPr id="258" name="Google Shape;258;p41" title="pipeline.png"/>
          <p:cNvPicPr preferRelativeResize="0"/>
          <p:nvPr/>
        </p:nvPicPr>
        <p:blipFill rotWithShape="1">
          <a:blip r:embed="rId3">
            <a:alphaModFix/>
          </a:blip>
          <a:srcRect b="0" l="23306" r="36510" t="55789"/>
          <a:stretch/>
        </p:blipFill>
        <p:spPr>
          <a:xfrm>
            <a:off x="3557975" y="3226100"/>
            <a:ext cx="3785027" cy="180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42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Module3: </a:t>
            </a:r>
            <a:r>
              <a:rPr lang="en"/>
              <a:t>Guided Generative Reasoning</a:t>
            </a:r>
            <a:endParaRPr/>
          </a:p>
        </p:txBody>
      </p:sp>
      <p:sp>
        <p:nvSpPr>
          <p:cNvPr id="265" name="Google Shape;265;p42"/>
          <p:cNvSpPr txBox="1"/>
          <p:nvPr>
            <p:ph idx="1" type="body"/>
          </p:nvPr>
        </p:nvSpPr>
        <p:spPr>
          <a:xfrm>
            <a:off x="640075" y="973450"/>
            <a:ext cx="7772400" cy="3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800"/>
              <a:t>Purpose</a:t>
            </a:r>
            <a:endParaRPr b="1" sz="1800"/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To prevent the artificial truncation of reasoning chains</a:t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" sz="1800"/>
              <a:t>Method</a:t>
            </a:r>
            <a:endParaRPr sz="1800"/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GuidedReasoning module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Remove constraints on temperature and max_tokens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Enables linguistic diversity characteristic of real human users</a:t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en" sz="1800"/>
              <a:t>stylistically aligned few-shot example provide contextual guidance.</a:t>
            </a:r>
            <a:endParaRPr sz="1800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66" name="Google Shape;266;p42" title="pipeline.png"/>
          <p:cNvPicPr preferRelativeResize="0"/>
          <p:nvPr/>
        </p:nvPicPr>
        <p:blipFill rotWithShape="1">
          <a:blip r:embed="rId3">
            <a:alphaModFix/>
          </a:blip>
          <a:srcRect b="41252" l="63686" r="-1184" t="0"/>
          <a:stretch/>
        </p:blipFill>
        <p:spPr>
          <a:xfrm>
            <a:off x="6637250" y="1277225"/>
            <a:ext cx="2455951" cy="1670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 txBox="1"/>
          <p:nvPr>
            <p:ph idx="12" type="sldNum"/>
          </p:nvPr>
        </p:nvSpPr>
        <p:spPr>
          <a:xfrm>
            <a:off x="8686800" y="4754880"/>
            <a:ext cx="457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43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16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273" name="Google Shape;273;p43"/>
          <p:cNvSpPr txBox="1"/>
          <p:nvPr>
            <p:ph idx="2" type="body"/>
          </p:nvPr>
        </p:nvSpPr>
        <p:spPr>
          <a:xfrm>
            <a:off x="640080" y="1897130"/>
            <a:ext cx="7772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3600"/>
              <a:buNone/>
            </a:pPr>
            <a:r>
              <a:rPr lang="en"/>
              <a:t>3. Experiment Analysis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9" name="Google Shape;279;p44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Evaluation Setup and Ablation Strategy</a:t>
            </a:r>
            <a:endParaRPr/>
          </a:p>
        </p:txBody>
      </p:sp>
      <p:sp>
        <p:nvSpPr>
          <p:cNvPr id="280" name="Google Shape;280;p44"/>
          <p:cNvSpPr txBox="1"/>
          <p:nvPr>
            <p:ph idx="1" type="body"/>
          </p:nvPr>
        </p:nvSpPr>
        <p:spPr>
          <a:xfrm>
            <a:off x="1059775" y="978400"/>
            <a:ext cx="7352700" cy="345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Datasets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Yelp, Amazon, Goodreads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Metrics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preference_estimation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review_generation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overall_quality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Ablation Plan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evaluate 5 factors: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Heuristic rating weight α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Base LLM size/type (inverse scaling)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Prompt structure (generic vs domain-aware)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Cross-domain user augmentation</a:t>
            </a:r>
            <a:b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LLM-Assisted Rating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5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5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287" name="Google Shape;287;p45"/>
          <p:cNvSpPr txBox="1"/>
          <p:nvPr>
            <p:ph idx="1" type="body"/>
          </p:nvPr>
        </p:nvSpPr>
        <p:spPr>
          <a:xfrm>
            <a:off x="467975" y="999625"/>
            <a:ext cx="7352700" cy="49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1 - Rating Weight α (Successful → Included in Final Pipeline)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find the optimal balance between item quality and user history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45" title="Screenshot 2025-12-02 at 8.22.1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813" y="1563625"/>
            <a:ext cx="4240376" cy="1278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5"/>
          <p:cNvSpPr txBox="1"/>
          <p:nvPr>
            <p:ph idx="1" type="body"/>
          </p:nvPr>
        </p:nvSpPr>
        <p:spPr>
          <a:xfrm>
            <a:off x="467975" y="3014400"/>
            <a:ext cx="7352700" cy="49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2 -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 LLM Model (Successful → Included in Final Pipeline)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the dependency on model scale and architecture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0" name="Google Shape;290;p45" title="Screenshot 2025-12-02 at 8.23.4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6337" y="3579150"/>
            <a:ext cx="3599876" cy="140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6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297" name="Google Shape;297;p46"/>
          <p:cNvSpPr txBox="1"/>
          <p:nvPr>
            <p:ph idx="1" type="body"/>
          </p:nvPr>
        </p:nvSpPr>
        <p:spPr>
          <a:xfrm>
            <a:off x="467975" y="999625"/>
            <a:ext cx="7817400" cy="76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3 -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Domain-Aware Prompting (Failed → Not in Final Pipeline)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whether domain-specific review structure (e.g., food, service, plot, characters) helps with more realistic, context-aware reviews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46" title="Screenshot 2025-12-02 at 9.02.2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6125" y="1713829"/>
            <a:ext cx="3558775" cy="8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6"/>
          <p:cNvSpPr txBox="1"/>
          <p:nvPr>
            <p:ph idx="1" type="body"/>
          </p:nvPr>
        </p:nvSpPr>
        <p:spPr>
          <a:xfrm>
            <a:off x="467975" y="2718575"/>
            <a:ext cx="4336200" cy="155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4 -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Cross-Domain User Augmentation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(Failed → Not in Final Pipeline)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investigated whether augmenting user profiles with data from other platforms (e.g., adding Amazon purchase history to a Yelp user) improved performance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46" title="Screenshot 2025-12-02 at 9.04.07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9613" y="2718575"/>
            <a:ext cx="3711749" cy="2301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47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Experiments</a:t>
            </a:r>
            <a:endParaRPr/>
          </a:p>
        </p:txBody>
      </p:sp>
      <p:sp>
        <p:nvSpPr>
          <p:cNvPr id="307" name="Google Shape;307;p47"/>
          <p:cNvSpPr txBox="1"/>
          <p:nvPr>
            <p:ph idx="1" type="body"/>
          </p:nvPr>
        </p:nvSpPr>
        <p:spPr>
          <a:xfrm>
            <a:off x="467975" y="999625"/>
            <a:ext cx="7817400" cy="49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 5 - </a:t>
            </a: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LLM-Assisted Rating</a:t>
            </a:r>
            <a:b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Goal: test whether adding LLM to star prediction improves the performance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7" title="Screenshot 2025-12-03 at 11.03.57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324" y="1680675"/>
            <a:ext cx="4956074" cy="22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/>
          <p:cNvSpPr txBox="1"/>
          <p:nvPr>
            <p:ph idx="12" type="sldNum"/>
          </p:nvPr>
        </p:nvSpPr>
        <p:spPr>
          <a:xfrm>
            <a:off x="8686800" y="4754880"/>
            <a:ext cx="457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4" name="Google Shape;314;p48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16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315" name="Google Shape;315;p48"/>
          <p:cNvSpPr txBox="1"/>
          <p:nvPr>
            <p:ph idx="2" type="body"/>
          </p:nvPr>
        </p:nvSpPr>
        <p:spPr>
          <a:xfrm>
            <a:off x="640080" y="1897130"/>
            <a:ext cx="7772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3600"/>
              <a:buNone/>
            </a:pPr>
            <a:r>
              <a:rPr lang="en"/>
              <a:t>4. </a:t>
            </a:r>
            <a:r>
              <a:rPr lang="en"/>
              <a:t>Limitations</a:t>
            </a:r>
            <a:r>
              <a:rPr lang="en"/>
              <a:t> and Future Work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9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49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Limitations and Future Work</a:t>
            </a:r>
            <a:endParaRPr/>
          </a:p>
        </p:txBody>
      </p:sp>
      <p:sp>
        <p:nvSpPr>
          <p:cNvPr id="322" name="Google Shape;322;p49"/>
          <p:cNvSpPr txBox="1"/>
          <p:nvPr>
            <p:ph idx="1" type="body"/>
          </p:nvPr>
        </p:nvSpPr>
        <p:spPr>
          <a:xfrm>
            <a:off x="640075" y="1178900"/>
            <a:ext cx="77724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Char char="●"/>
            </a:pPr>
            <a:r>
              <a:rPr b="1" lang="en" sz="1800">
                <a:solidFill>
                  <a:srgbClr val="58595B"/>
                </a:solidFill>
              </a:rPr>
              <a:t>Limitation:</a:t>
            </a:r>
            <a:r>
              <a:rPr lang="en" sz="1800">
                <a:solidFill>
                  <a:srgbClr val="58595B"/>
                </a:solidFill>
              </a:rPr>
              <a:t> No user history → cannot condition ratings or style</a:t>
            </a:r>
            <a:endParaRPr sz="1800">
              <a:solidFill>
                <a:srgbClr val="58595B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1800"/>
              <a:buChar char="●"/>
            </a:pPr>
            <a:r>
              <a:rPr b="1" lang="en" sz="1800">
                <a:solidFill>
                  <a:srgbClr val="58595B"/>
                </a:solidFill>
              </a:rPr>
              <a:t>Future </a:t>
            </a:r>
            <a:r>
              <a:rPr b="1" lang="en" sz="1800">
                <a:solidFill>
                  <a:srgbClr val="58595B"/>
                </a:solidFill>
              </a:rPr>
              <a:t>Work</a:t>
            </a:r>
            <a:r>
              <a:rPr b="1" lang="en" sz="1800">
                <a:solidFill>
                  <a:srgbClr val="58595B"/>
                </a:solidFill>
              </a:rPr>
              <a:t>:</a:t>
            </a:r>
            <a:r>
              <a:rPr lang="en" sz="1800">
                <a:solidFill>
                  <a:srgbClr val="58595B"/>
                </a:solidFill>
              </a:rPr>
              <a:t> Cold-start user modeling</a:t>
            </a:r>
            <a:endParaRPr sz="1800">
              <a:solidFill>
                <a:srgbClr val="58595B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0"/>
          <p:cNvSpPr txBox="1"/>
          <p:nvPr>
            <p:ph idx="12" type="sldNum"/>
          </p:nvPr>
        </p:nvSpPr>
        <p:spPr>
          <a:xfrm>
            <a:off x="8686800" y="4754880"/>
            <a:ext cx="457200" cy="4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50"/>
          <p:cNvSpPr txBox="1"/>
          <p:nvPr>
            <p:ph idx="1" type="body"/>
          </p:nvPr>
        </p:nvSpPr>
        <p:spPr>
          <a:xfrm>
            <a:off x="640079" y="2651760"/>
            <a:ext cx="77724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1600"/>
              <a:buFont typeface="Helvetica Neue"/>
              <a:buNone/>
            </a:pPr>
            <a:r>
              <a:t/>
            </a:r>
            <a:endParaRPr/>
          </a:p>
        </p:txBody>
      </p:sp>
      <p:sp>
        <p:nvSpPr>
          <p:cNvPr id="329" name="Google Shape;329;p50"/>
          <p:cNvSpPr txBox="1"/>
          <p:nvPr>
            <p:ph idx="2" type="body"/>
          </p:nvPr>
        </p:nvSpPr>
        <p:spPr>
          <a:xfrm>
            <a:off x="640080" y="1897130"/>
            <a:ext cx="77724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58595B"/>
              </a:buClr>
              <a:buSzPts val="3600"/>
              <a:buNone/>
            </a:pPr>
            <a:r>
              <a:rPr lang="en"/>
              <a:t>5. Conclusion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1"/>
          <p:cNvSpPr txBox="1"/>
          <p:nvPr>
            <p:ph idx="12" type="sldNum"/>
          </p:nvPr>
        </p:nvSpPr>
        <p:spPr>
          <a:xfrm>
            <a:off x="8686800" y="4754880"/>
            <a:ext cx="4572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6025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51"/>
          <p:cNvSpPr txBox="1"/>
          <p:nvPr>
            <p:ph type="title"/>
          </p:nvPr>
        </p:nvSpPr>
        <p:spPr>
          <a:xfrm>
            <a:off x="640077" y="367401"/>
            <a:ext cx="77724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8595B"/>
              </a:buClr>
              <a:buSzPts val="2800"/>
              <a:buFont typeface="Helvetica Neue"/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36" name="Google Shape;336;p51"/>
          <p:cNvSpPr txBox="1"/>
          <p:nvPr>
            <p:ph idx="1" type="body"/>
          </p:nvPr>
        </p:nvSpPr>
        <p:spPr>
          <a:xfrm>
            <a:off x="640075" y="1178900"/>
            <a:ext cx="7772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</a:rPr>
              <a:t>Historical ratings provide more stable and consistent Predictions than LLM-generated ratings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</a:rPr>
              <a:t>Hybrid architecture improves review quality by conditioning LLM on historical examples</a:t>
            </a:r>
            <a:endParaRPr sz="1800">
              <a:solidFill>
                <a:srgbClr val="33333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Char char="●"/>
            </a:pPr>
            <a:r>
              <a:rPr lang="en" sz="1800">
                <a:solidFill>
                  <a:srgbClr val="333333"/>
                </a:solidFill>
              </a:rPr>
              <a:t>Decoupling rating prediction resolves sentiment hallucination and boosts stylistic fidelity</a:t>
            </a:r>
            <a:endParaRPr sz="18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esentation-01-light">
  <a:themeElements>
    <a:clrScheme name="Brand-01-Colors">
      <a:dk1>
        <a:srgbClr val="57585B"/>
      </a:dk1>
      <a:lt1>
        <a:srgbClr val="FFFFFF"/>
      </a:lt1>
      <a:dk2>
        <a:srgbClr val="2774AE"/>
      </a:dk2>
      <a:lt2>
        <a:srgbClr val="FFFFFF"/>
      </a:lt2>
      <a:accent1>
        <a:srgbClr val="2774AE"/>
      </a:accent1>
      <a:accent2>
        <a:srgbClr val="898989"/>
      </a:accent2>
      <a:accent3>
        <a:srgbClr val="DAE6F4"/>
      </a:accent3>
      <a:accent4>
        <a:srgbClr val="8AB8E8"/>
      </a:accent4>
      <a:accent5>
        <a:srgbClr val="FFC72B"/>
      </a:accent5>
      <a:accent6>
        <a:srgbClr val="00375B"/>
      </a:accent6>
      <a:hlink>
        <a:srgbClr val="00375B"/>
      </a:hlink>
      <a:folHlink>
        <a:srgbClr val="5123B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